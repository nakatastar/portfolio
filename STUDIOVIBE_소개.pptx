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f87df3f-8978-d44c-4469-4fc511f089e1}">
          <p14:sldIdLst>
            <p14:sldId id="256"/>
          </p14:sldIdLst>
        </p14:section>
        <p14:section name="회사 소개" id="{b45d702f-ce86-b0de-35a7-83899f6588f2}">
          <p14:sldIdLst>
            <p14:sldId id="257"/>
          </p14:sldIdLst>
        </p14:section>
        <p14:section name="프로젝트" id="{50cfc164-23a9-c78d-2a84-fc0edb6e40ac}">
          <p14:sldIdLst>
            <p14:sldId id="258"/>
          </p14:sldIdLst>
        </p14:section>
        <p14:section name="매출" id="{7d345e6e-093a-9c09-c521-e6c2751b714a}">
          <p14:sldIdLst>
            <p14:sldId id="259"/>
          </p14:sldIdLst>
        </p14:section>
        <p14:section name="협업 방식" id="{ba3d8f0d-453a-860f-e025-046876f916ca}">
          <p14:sldIdLst>
            <p14:sldId id="260"/>
          </p14:sldIdLst>
        </p14:section>
        <p14:section name="예약 안내" id="{6f89ef5a-1a1d-8e95-8e62-1ac6d7742832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연도별 매출 (단위: 억 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 원)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27</c:v>
                </c:pt>
                <c:pt idx="3">
                  <c:v>41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STUDIOVIBE 회사 소개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STUDIOVIBE의 세 가지 사업 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홈페이지에 소개된 최근 완료 프로젝트 세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매출 수치는 예시입니다. 차트를 마우스 오른쪽 버튼으로 눌러 '데이터 편집'에서 실제 값으로 바꾸고, 오른쪽 숫자 박스도 함께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협업 프로세스 4단계입니다.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미팅 예약 절차와 상담 시간입니다. 상담 시간과 회신 기간은 예시이므로 실제 운영 기준으로 바꾸세요.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402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스튜디오에서 촬영 중인 제작진의 실루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hoto 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65000"/>
            </a:srgbClr>
          </a:solidFill>
          <a:ln/>
        </p:spPr>
      </p:sp>
      <p:sp>
        <p:nvSpPr>
          <p:cNvPr id="4" name="Eyebrow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CREATIVE. VIBRANT. LIVE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240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STUDIOVIBE</a:t>
            </a:r>
            <a:endParaRPr lang="en-US" sz="5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K-콘텐츠 IP를 만들고 키우는 글로벌 IP 스튜디오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콘텐츠에서 시작해 IP로 확장합니다</a:t>
            </a:r>
            <a:endParaRPr lang="en-US" sz="3000" dirty="0"/>
          </a:p>
        </p:txBody>
      </p:sp>
      <p:sp>
        <p:nvSpPr>
          <p:cNvPr id="3" name="Pillar Icon Bg 1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illar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39112"/>
            <a:ext cx="402336" cy="402336"/>
          </a:xfrm>
          <a:prstGeom prst="rect">
            <a:avLst/>
          </a:prstGeom>
        </p:spPr>
      </p:pic>
      <p:sp>
        <p:nvSpPr>
          <p:cNvPr id="5" name="Pillar Num 1"/>
          <p:cNvSpPr txBox="1"/>
          <p:nvPr/>
        </p:nvSpPr>
        <p:spPr>
          <a:xfrm>
            <a:off x="155448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Pillar Head 1"/>
          <p:cNvSpPr txBox="1"/>
          <p:nvPr/>
        </p:nvSpPr>
        <p:spPr>
          <a:xfrm>
            <a:off x="548640" y="2926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IP 기획·제작</a:t>
            </a:r>
            <a:endParaRPr lang="en-US" sz="2000" dirty="0"/>
          </a:p>
        </p:txBody>
      </p:sp>
      <p:sp>
        <p:nvSpPr>
          <p:cNvPr id="7" name="Pillar Body 1"/>
          <p:cNvSpPr txBox="1"/>
          <p:nvPr/>
        </p:nvSpPr>
        <p:spPr>
          <a:xfrm>
            <a:off x="54864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스포츠 스타와 함께하는 예능·토크쇼를 직접 기획하고 제작합니다</a:t>
            </a:r>
            <a:endParaRPr lang="en-US" sz="1400" dirty="0"/>
          </a:p>
        </p:txBody>
      </p:sp>
      <p:sp>
        <p:nvSpPr>
          <p:cNvPr id="8" name="Pillar Icon Bg 2"/>
          <p:cNvSpPr/>
          <p:nvPr/>
        </p:nvSpPr>
        <p:spPr>
          <a:xfrm>
            <a:off x="331470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illar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2039112"/>
            <a:ext cx="402336" cy="402336"/>
          </a:xfrm>
          <a:prstGeom prst="rect">
            <a:avLst/>
          </a:prstGeom>
        </p:spPr>
      </p:pic>
      <p:sp>
        <p:nvSpPr>
          <p:cNvPr id="10" name="Pillar Num 2"/>
          <p:cNvSpPr txBox="1"/>
          <p:nvPr/>
        </p:nvSpPr>
        <p:spPr>
          <a:xfrm>
            <a:off x="432054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Pillar Head 2"/>
          <p:cNvSpPr txBox="1"/>
          <p:nvPr/>
        </p:nvSpPr>
        <p:spPr>
          <a:xfrm>
            <a:off x="3314700" y="2926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부가사업 확장</a:t>
            </a:r>
            <a:endParaRPr lang="en-US" sz="2000" dirty="0"/>
          </a:p>
        </p:txBody>
      </p:sp>
      <p:sp>
        <p:nvSpPr>
          <p:cNvPr id="12" name="Pillar Body 2"/>
          <p:cNvSpPr txBox="1"/>
          <p:nvPr/>
        </p:nvSpPr>
        <p:spPr>
          <a:xfrm>
            <a:off x="331470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콘텐츠 IP를 굿즈·이벤트·브랜드 협업으로 넓혀 갑니다</a:t>
            </a:r>
            <a:endParaRPr lang="en-US" sz="1400" dirty="0"/>
          </a:p>
        </p:txBody>
      </p:sp>
      <p:sp>
        <p:nvSpPr>
          <p:cNvPr id="13" name="Pillar Icon Bg 3"/>
          <p:cNvSpPr/>
          <p:nvPr/>
        </p:nvSpPr>
        <p:spPr>
          <a:xfrm>
            <a:off x="608076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Pillar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039112"/>
            <a:ext cx="402336" cy="402336"/>
          </a:xfrm>
          <a:prstGeom prst="rect">
            <a:avLst/>
          </a:prstGeom>
        </p:spPr>
      </p:pic>
      <p:sp>
        <p:nvSpPr>
          <p:cNvPr id="15" name="Pillar Num 3"/>
          <p:cNvSpPr txBox="1"/>
          <p:nvPr/>
        </p:nvSpPr>
        <p:spPr>
          <a:xfrm>
            <a:off x="708660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</a:rPr>
              <a:t>03</a:t>
            </a:r>
            <a:endParaRPr lang="en-US" sz="2800" dirty="0"/>
          </a:p>
        </p:txBody>
      </p:sp>
      <p:sp>
        <p:nvSpPr>
          <p:cNvPr id="16" name="Pillar Head 3"/>
          <p:cNvSpPr txBox="1"/>
          <p:nvPr/>
        </p:nvSpPr>
        <p:spPr>
          <a:xfrm>
            <a:off x="6080760" y="2926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글로벌 진출</a:t>
            </a:r>
            <a:endParaRPr lang="en-US" sz="2000" dirty="0"/>
          </a:p>
        </p:txBody>
      </p:sp>
      <p:sp>
        <p:nvSpPr>
          <p:cNvPr id="17" name="Pillar Body 3"/>
          <p:cNvSpPr txBox="1"/>
          <p:nvPr/>
        </p:nvSpPr>
        <p:spPr>
          <a:xfrm>
            <a:off x="608076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한국-베트남 공동 프로젝트로 아시아 시장을 엽니다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대표 프로젝트</a:t>
            </a:r>
            <a:endParaRPr lang="en-US" sz="3000" dirty="0"/>
          </a:p>
        </p:txBody>
      </p:sp>
      <p:sp>
        <p:nvSpPr>
          <p:cNvPr id="3" name="Project Card 1"/>
          <p:cNvSpPr/>
          <p:nvPr/>
        </p:nvSpPr>
        <p:spPr>
          <a:xfrm>
            <a:off x="548640" y="128016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11827">
                <a:alpha val="10000"/>
              </a:srgbClr>
            </a:outerShdw>
          </a:effectLst>
        </p:spPr>
      </p:sp>
      <p:sp>
        <p:nvSpPr>
          <p:cNvPr id="4" name="Project Icon Bg 1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Projec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19072"/>
            <a:ext cx="310896" cy="310896"/>
          </a:xfrm>
          <a:prstGeom prst="rect">
            <a:avLst/>
          </a:prstGeom>
        </p:spPr>
      </p:pic>
      <p:sp>
        <p:nvSpPr>
          <p:cNvPr id="6" name="Project Name 1"/>
          <p:cNvSpPr txBox="1"/>
          <p:nvPr/>
        </p:nvSpPr>
        <p:spPr>
          <a:xfrm>
            <a:off x="82296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메트로박</a:t>
            </a:r>
            <a:endParaRPr lang="en-US" sz="2000" dirty="0"/>
          </a:p>
        </p:txBody>
      </p:sp>
      <p:sp>
        <p:nvSpPr>
          <p:cNvPr id="7" name="Project En 1"/>
          <p:cNvSpPr txBox="1"/>
          <p:nvPr/>
        </p:nvSpPr>
        <p:spPr>
          <a:xfrm>
            <a:off x="822960" y="2788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Metro Park</a:t>
            </a:r>
            <a:endParaRPr lang="en-US" sz="1200" dirty="0"/>
          </a:p>
        </p:txBody>
      </p:sp>
      <p:sp>
        <p:nvSpPr>
          <p:cNvPr id="8" name="Project Desc 1"/>
          <p:cNvSpPr txBox="1"/>
          <p:nvPr/>
        </p:nvSpPr>
        <p:spPr>
          <a:xfrm>
            <a:off x="822960" y="31546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박용택·유희관이 전국 야구장에서 팬을 만나는 길거리 야구 토크쇼</a:t>
            </a:r>
            <a:endParaRPr lang="en-US" sz="1200" dirty="0"/>
          </a:p>
        </p:txBody>
      </p:sp>
      <p:sp>
        <p:nvSpPr>
          <p:cNvPr id="9" name="Project Tag Bg 1"/>
          <p:cNvSpPr/>
          <p:nvPr/>
        </p:nvSpPr>
        <p:spPr>
          <a:xfrm>
            <a:off x="822960" y="40690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/>
        </p:spPr>
      </p:sp>
      <p:sp>
        <p:nvSpPr>
          <p:cNvPr id="10" name="Project Tag 1"/>
          <p:cNvSpPr txBox="1"/>
          <p:nvPr/>
        </p:nvSpPr>
        <p:spPr>
          <a:xfrm>
            <a:off x="822960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야구 토크쇼</a:t>
            </a:r>
            <a:endParaRPr lang="en-US" sz="1000" dirty="0"/>
          </a:p>
        </p:txBody>
      </p:sp>
      <p:sp>
        <p:nvSpPr>
          <p:cNvPr id="11" name="Project Card 2"/>
          <p:cNvSpPr/>
          <p:nvPr/>
        </p:nvSpPr>
        <p:spPr>
          <a:xfrm>
            <a:off x="3314700" y="128016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11827">
                <a:alpha val="10000"/>
              </a:srgbClr>
            </a:outerShdw>
          </a:effectLst>
        </p:spPr>
      </p:sp>
      <p:sp>
        <p:nvSpPr>
          <p:cNvPr id="12" name="Project Icon Bg 2"/>
          <p:cNvSpPr/>
          <p:nvPr/>
        </p:nvSpPr>
        <p:spPr>
          <a:xfrm>
            <a:off x="3589020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Projec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12" y="1719072"/>
            <a:ext cx="310896" cy="310896"/>
          </a:xfrm>
          <a:prstGeom prst="rect">
            <a:avLst/>
          </a:prstGeom>
        </p:spPr>
      </p:pic>
      <p:sp>
        <p:nvSpPr>
          <p:cNvPr id="14" name="Project Name 2"/>
          <p:cNvSpPr txBox="1"/>
          <p:nvPr/>
        </p:nvSpPr>
        <p:spPr>
          <a:xfrm>
            <a:off x="358902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야구로드</a:t>
            </a:r>
            <a:endParaRPr lang="en-US" sz="2000" dirty="0"/>
          </a:p>
        </p:txBody>
      </p:sp>
      <p:sp>
        <p:nvSpPr>
          <p:cNvPr id="15" name="Project En 2"/>
          <p:cNvSpPr txBox="1"/>
          <p:nvPr/>
        </p:nvSpPr>
        <p:spPr>
          <a:xfrm>
            <a:off x="3589020" y="2788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Baseball Road</a:t>
            </a:r>
            <a:endParaRPr lang="en-US" sz="1200" dirty="0"/>
          </a:p>
        </p:txBody>
      </p:sp>
      <p:sp>
        <p:nvSpPr>
          <p:cNvPr id="16" name="Project Desc 2"/>
          <p:cNvSpPr txBox="1"/>
          <p:nvPr/>
        </p:nvSpPr>
        <p:spPr>
          <a:xfrm>
            <a:off x="3589020" y="31546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박용택·이대호가 아시아 야구 도시를 떠도는 글로벌 야구 여행기</a:t>
            </a:r>
            <a:endParaRPr lang="en-US" sz="1200" dirty="0"/>
          </a:p>
        </p:txBody>
      </p:sp>
      <p:sp>
        <p:nvSpPr>
          <p:cNvPr id="17" name="Project Tag Bg 2"/>
          <p:cNvSpPr/>
          <p:nvPr/>
        </p:nvSpPr>
        <p:spPr>
          <a:xfrm>
            <a:off x="3589020" y="40690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/>
        </p:spPr>
      </p:sp>
      <p:sp>
        <p:nvSpPr>
          <p:cNvPr id="18" name="Project Tag 2"/>
          <p:cNvSpPr txBox="1"/>
          <p:nvPr/>
        </p:nvSpPr>
        <p:spPr>
          <a:xfrm>
            <a:off x="3589020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야구 여행 예능</a:t>
            </a:r>
            <a:endParaRPr lang="en-US" sz="1000" dirty="0"/>
          </a:p>
        </p:txBody>
      </p:sp>
      <p:sp>
        <p:nvSpPr>
          <p:cNvPr id="19" name="Project Card 3"/>
          <p:cNvSpPr/>
          <p:nvPr/>
        </p:nvSpPr>
        <p:spPr>
          <a:xfrm>
            <a:off x="6080760" y="128016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11827">
                <a:alpha val="10000"/>
              </a:srgbClr>
            </a:outerShdw>
          </a:effectLst>
        </p:spPr>
      </p:sp>
      <p:sp>
        <p:nvSpPr>
          <p:cNvPr id="20" name="Project Icon Bg 3"/>
          <p:cNvSpPr/>
          <p:nvPr/>
        </p:nvSpPr>
        <p:spPr>
          <a:xfrm>
            <a:off x="6355080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Projec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19072"/>
            <a:ext cx="310896" cy="310896"/>
          </a:xfrm>
          <a:prstGeom prst="rect">
            <a:avLst/>
          </a:prstGeom>
        </p:spPr>
      </p:pic>
      <p:sp>
        <p:nvSpPr>
          <p:cNvPr id="22" name="Project Name 3"/>
          <p:cNvSpPr txBox="1"/>
          <p:nvPr/>
        </p:nvSpPr>
        <p:spPr>
          <a:xfrm>
            <a:off x="635508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더 넥스트</a:t>
            </a:r>
            <a:endParaRPr lang="en-US" sz="2000" dirty="0"/>
          </a:p>
        </p:txBody>
      </p:sp>
      <p:sp>
        <p:nvSpPr>
          <p:cNvPr id="23" name="Project En 3"/>
          <p:cNvSpPr txBox="1"/>
          <p:nvPr/>
        </p:nvSpPr>
        <p:spPr>
          <a:xfrm>
            <a:off x="6355080" y="2788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NEXT</a:t>
            </a:r>
            <a:endParaRPr lang="en-US" sz="1200" dirty="0"/>
          </a:p>
        </p:txBody>
      </p:sp>
      <p:sp>
        <p:nvSpPr>
          <p:cNvPr id="24" name="Project Desc 3"/>
          <p:cNvSpPr txBox="1"/>
          <p:nvPr/>
        </p:nvSpPr>
        <p:spPr>
          <a:xfrm>
            <a:off x="6355080" y="31546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베트남 e스포츠 유망주의 프로 데뷔를 돕는 한-베 오디션</a:t>
            </a:r>
            <a:endParaRPr lang="en-US" sz="1200" dirty="0"/>
          </a:p>
        </p:txBody>
      </p:sp>
      <p:sp>
        <p:nvSpPr>
          <p:cNvPr id="25" name="Project Tag Bg 3"/>
          <p:cNvSpPr/>
          <p:nvPr/>
        </p:nvSpPr>
        <p:spPr>
          <a:xfrm>
            <a:off x="6355080" y="40690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/>
        </p:spPr>
      </p:sp>
      <p:sp>
        <p:nvSpPr>
          <p:cNvPr id="26" name="Project Tag 3"/>
          <p:cNvSpPr txBox="1"/>
          <p:nvPr/>
        </p:nvSpPr>
        <p:spPr>
          <a:xfrm>
            <a:off x="6355080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e스포츠 오디션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매출은 4년 만에 약 5배로 성장했습니다</a:t>
            </a:r>
            <a:endParaRPr lang="en-US" sz="3000" dirty="0"/>
          </a:p>
        </p:txBody>
      </p:sp>
      <p:graphicFrame>
        <p:nvGraphicFramePr>
          <p:cNvPr id="3" name="Revenue Chart" descr="2021년 12억 원에서 2025년 58억 원으로 증가한 연도별 매출 막대그래프"/>
          <p:cNvGraphicFramePr/>
          <p:nvPr/>
        </p:nvGraphicFramePr>
        <p:xfrm>
          <a:off x="54864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Box 1"/>
          <p:cNvSpPr/>
          <p:nvPr/>
        </p:nvSpPr>
        <p:spPr>
          <a:xfrm>
            <a:off x="6217920" y="1325880"/>
            <a:ext cx="237744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5" name="Stat 1"/>
          <p:cNvSpPr txBox="1"/>
          <p:nvPr/>
        </p:nvSpPr>
        <p:spPr>
          <a:xfrm>
            <a:off x="6446520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58억</a:t>
            </a:r>
            <a:endParaRPr lang="en-US" sz="3600" dirty="0"/>
          </a:p>
        </p:txBody>
      </p:sp>
      <p:sp>
        <p:nvSpPr>
          <p:cNvPr id="6" name="Stat 1 Label"/>
          <p:cNvSpPr txBox="1"/>
          <p:nvPr/>
        </p:nvSpPr>
        <p:spPr>
          <a:xfrm>
            <a:off x="644652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2025년 매출</a:t>
            </a:r>
            <a:endParaRPr lang="en-US" sz="1400" dirty="0"/>
          </a:p>
        </p:txBody>
      </p:sp>
      <p:sp>
        <p:nvSpPr>
          <p:cNvPr id="7" name="Stat Box 2"/>
          <p:cNvSpPr/>
          <p:nvPr/>
        </p:nvSpPr>
        <p:spPr>
          <a:xfrm>
            <a:off x="6217920" y="3063240"/>
            <a:ext cx="2377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Stat 2"/>
          <p:cNvSpPr txBox="1"/>
          <p:nvPr/>
        </p:nvSpPr>
        <p:spPr>
          <a:xfrm>
            <a:off x="6446520" y="3200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+48%</a:t>
            </a:r>
            <a:endParaRPr lang="en-US" sz="3600" dirty="0"/>
          </a:p>
        </p:txBody>
      </p:sp>
      <p:sp>
        <p:nvSpPr>
          <p:cNvPr id="9" name="Stat 2 Label"/>
          <p:cNvSpPr txBox="1"/>
          <p:nvPr/>
        </p:nvSpPr>
        <p:spPr>
          <a:xfrm>
            <a:off x="6446520" y="3931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연평균 성장률 (2021–25)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기획부터 IP 확장까지 한 팀이 함께합니다</a:t>
            </a:r>
            <a:endParaRPr lang="en-US" sz="3000" dirty="0"/>
          </a:p>
        </p:txBody>
      </p:sp>
      <p:sp>
        <p:nvSpPr>
          <p:cNvPr id="3" name="Step Connector 1"/>
          <p:cNvSpPr/>
          <p:nvPr/>
        </p:nvSpPr>
        <p:spPr>
          <a:xfrm>
            <a:off x="1874520" y="2194560"/>
            <a:ext cx="1249985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dash"/>
          </a:ln>
        </p:spPr>
      </p:sp>
      <p:sp>
        <p:nvSpPr>
          <p:cNvPr id="4" name="Step Icon Bg 1"/>
          <p:cNvSpPr/>
          <p:nvPr/>
        </p:nvSpPr>
        <p:spPr>
          <a:xfrm>
            <a:off x="1051560" y="17830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Ste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993392"/>
            <a:ext cx="402336" cy="402336"/>
          </a:xfrm>
          <a:prstGeom prst="rect">
            <a:avLst/>
          </a:prstGeom>
        </p:spPr>
      </p:pic>
      <p:sp>
        <p:nvSpPr>
          <p:cNvPr id="6" name="Step Label 1"/>
          <p:cNvSpPr txBox="1"/>
          <p:nvPr/>
        </p:nvSpPr>
        <p:spPr>
          <a:xfrm>
            <a:off x="5486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1</a:t>
            </a:r>
            <a:endParaRPr lang="en-US" sz="1100" dirty="0"/>
          </a:p>
        </p:txBody>
      </p:sp>
      <p:sp>
        <p:nvSpPr>
          <p:cNvPr id="7" name="Step Head 1"/>
          <p:cNvSpPr txBox="1"/>
          <p:nvPr/>
        </p:nvSpPr>
        <p:spPr>
          <a:xfrm>
            <a:off x="5486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기획</a:t>
            </a:r>
            <a:endParaRPr lang="en-US" sz="2000" dirty="0"/>
          </a:p>
        </p:txBody>
      </p:sp>
      <p:sp>
        <p:nvSpPr>
          <p:cNvPr id="8" name="Step Body 1"/>
          <p:cNvSpPr txBox="1"/>
          <p:nvPr/>
        </p:nvSpPr>
        <p:spPr>
          <a:xfrm>
            <a:off x="64008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출연진·포맷·타깃을 함께 설계</a:t>
            </a:r>
            <a:endParaRPr lang="en-US" sz="1300" dirty="0"/>
          </a:p>
        </p:txBody>
      </p:sp>
      <p:sp>
        <p:nvSpPr>
          <p:cNvPr id="9" name="Step Connector 2"/>
          <p:cNvSpPr/>
          <p:nvPr/>
        </p:nvSpPr>
        <p:spPr>
          <a:xfrm>
            <a:off x="3947465" y="2194560"/>
            <a:ext cx="1249985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dash"/>
          </a:ln>
        </p:spPr>
      </p:sp>
      <p:sp>
        <p:nvSpPr>
          <p:cNvPr id="10" name="Step Icon Bg 2"/>
          <p:cNvSpPr/>
          <p:nvPr/>
        </p:nvSpPr>
        <p:spPr>
          <a:xfrm>
            <a:off x="3124505" y="17830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Step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817" y="1993392"/>
            <a:ext cx="402336" cy="402336"/>
          </a:xfrm>
          <a:prstGeom prst="rect">
            <a:avLst/>
          </a:prstGeom>
        </p:spPr>
      </p:pic>
      <p:sp>
        <p:nvSpPr>
          <p:cNvPr id="12" name="Step Label 2"/>
          <p:cNvSpPr txBox="1"/>
          <p:nvPr/>
        </p:nvSpPr>
        <p:spPr>
          <a:xfrm>
            <a:off x="2621585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2</a:t>
            </a:r>
            <a:endParaRPr lang="en-US" sz="1100" dirty="0"/>
          </a:p>
        </p:txBody>
      </p:sp>
      <p:sp>
        <p:nvSpPr>
          <p:cNvPr id="13" name="Step Head 2"/>
          <p:cNvSpPr txBox="1"/>
          <p:nvPr/>
        </p:nvSpPr>
        <p:spPr>
          <a:xfrm>
            <a:off x="2621585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제작</a:t>
            </a:r>
            <a:endParaRPr lang="en-US" sz="2000" dirty="0"/>
          </a:p>
        </p:txBody>
      </p:sp>
      <p:sp>
        <p:nvSpPr>
          <p:cNvPr id="14" name="Step Body 2"/>
          <p:cNvSpPr txBox="1"/>
          <p:nvPr/>
        </p:nvSpPr>
        <p:spPr>
          <a:xfrm>
            <a:off x="2713025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촬영·편집·후반 작업 원스톱</a:t>
            </a:r>
            <a:endParaRPr lang="en-US" sz="1300" dirty="0"/>
          </a:p>
        </p:txBody>
      </p:sp>
      <p:sp>
        <p:nvSpPr>
          <p:cNvPr id="15" name="Step Connector 3"/>
          <p:cNvSpPr/>
          <p:nvPr/>
        </p:nvSpPr>
        <p:spPr>
          <a:xfrm>
            <a:off x="6020410" y="2194560"/>
            <a:ext cx="1249985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dash"/>
          </a:ln>
        </p:spPr>
      </p:sp>
      <p:sp>
        <p:nvSpPr>
          <p:cNvPr id="16" name="Step Icon Bg 3"/>
          <p:cNvSpPr/>
          <p:nvPr/>
        </p:nvSpPr>
        <p:spPr>
          <a:xfrm>
            <a:off x="5197450" y="17830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Step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62" y="1993392"/>
            <a:ext cx="402336" cy="402336"/>
          </a:xfrm>
          <a:prstGeom prst="rect">
            <a:avLst/>
          </a:prstGeom>
        </p:spPr>
      </p:pic>
      <p:sp>
        <p:nvSpPr>
          <p:cNvPr id="18" name="Step Label 3"/>
          <p:cNvSpPr txBox="1"/>
          <p:nvPr/>
        </p:nvSpPr>
        <p:spPr>
          <a:xfrm>
            <a:off x="469453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3</a:t>
            </a:r>
            <a:endParaRPr lang="en-US" sz="1100" dirty="0"/>
          </a:p>
        </p:txBody>
      </p:sp>
      <p:sp>
        <p:nvSpPr>
          <p:cNvPr id="19" name="Step Head 3"/>
          <p:cNvSpPr txBox="1"/>
          <p:nvPr/>
        </p:nvSpPr>
        <p:spPr>
          <a:xfrm>
            <a:off x="469453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유통</a:t>
            </a:r>
            <a:endParaRPr lang="en-US" sz="2000" dirty="0"/>
          </a:p>
        </p:txBody>
      </p:sp>
      <p:sp>
        <p:nvSpPr>
          <p:cNvPr id="20" name="Step Body 3"/>
          <p:cNvSpPr txBox="1"/>
          <p:nvPr/>
        </p:nvSpPr>
        <p:spPr>
          <a:xfrm>
            <a:off x="478597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OTT·유튜브·해외 채널 배급</a:t>
            </a:r>
            <a:endParaRPr lang="en-US" sz="1300" dirty="0"/>
          </a:p>
        </p:txBody>
      </p:sp>
      <p:sp>
        <p:nvSpPr>
          <p:cNvPr id="21" name="Step Icon Bg 4"/>
          <p:cNvSpPr/>
          <p:nvPr/>
        </p:nvSpPr>
        <p:spPr>
          <a:xfrm>
            <a:off x="7270394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Step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706" y="1993392"/>
            <a:ext cx="402336" cy="402336"/>
          </a:xfrm>
          <a:prstGeom prst="rect">
            <a:avLst/>
          </a:prstGeom>
        </p:spPr>
      </p:pic>
      <p:sp>
        <p:nvSpPr>
          <p:cNvPr id="23" name="Step Label 4"/>
          <p:cNvSpPr txBox="1"/>
          <p:nvPr/>
        </p:nvSpPr>
        <p:spPr>
          <a:xfrm>
            <a:off x="6767474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4</a:t>
            </a:r>
            <a:endParaRPr lang="en-US" sz="1100" dirty="0"/>
          </a:p>
        </p:txBody>
      </p:sp>
      <p:sp>
        <p:nvSpPr>
          <p:cNvPr id="24" name="Step Head 4"/>
          <p:cNvSpPr txBox="1"/>
          <p:nvPr/>
        </p:nvSpPr>
        <p:spPr>
          <a:xfrm>
            <a:off x="6767474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IP 확장</a:t>
            </a:r>
            <a:endParaRPr lang="en-US" sz="2000" dirty="0"/>
          </a:p>
        </p:txBody>
      </p:sp>
      <p:sp>
        <p:nvSpPr>
          <p:cNvPr id="25" name="Step Body 4"/>
          <p:cNvSpPr txBox="1"/>
          <p:nvPr/>
        </p:nvSpPr>
        <p:spPr>
          <a:xfrm>
            <a:off x="6858914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굿즈·이벤트·후속 시즌 개발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미팅 예약 안내</a:t>
            </a:r>
            <a:endParaRPr lang="en-US" sz="3000" dirty="0"/>
          </a:p>
        </p:txBody>
      </p:sp>
      <p:sp>
        <p:nvSpPr>
          <p:cNvPr id="3" name="Book Icon Bg 1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Book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0472"/>
            <a:ext cx="310896" cy="310896"/>
          </a:xfrm>
          <a:prstGeom prst="rect">
            <a:avLst/>
          </a:prstGeom>
        </p:spPr>
      </p:pic>
      <p:sp>
        <p:nvSpPr>
          <p:cNvPr id="5" name="Book Head 1"/>
          <p:cNvSpPr txBox="1"/>
          <p:nvPr/>
        </p:nvSpPr>
        <p:spPr>
          <a:xfrm>
            <a:off x="1417320" y="13075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문의 남기기</a:t>
            </a:r>
            <a:endParaRPr lang="en-US" sz="1600" dirty="0"/>
          </a:p>
        </p:txBody>
      </p:sp>
      <p:sp>
        <p:nvSpPr>
          <p:cNvPr id="6" name="Book Body 1"/>
          <p:cNvSpPr txBox="1"/>
          <p:nvPr/>
        </p:nvSpPr>
        <p:spPr>
          <a:xfrm>
            <a:off x="1417320" y="16367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홈페이지 Get In Touch 폼에 이름·이메일·제안 내용을 남겨 주세요</a:t>
            </a:r>
            <a:endParaRPr lang="en-US" sz="1200" dirty="0"/>
          </a:p>
        </p:txBody>
      </p:sp>
      <p:sp>
        <p:nvSpPr>
          <p:cNvPr id="7" name="Book Icon Bg 2"/>
          <p:cNvSpPr/>
          <p:nvPr/>
        </p:nvSpPr>
        <p:spPr>
          <a:xfrm>
            <a:off x="548640" y="2194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ook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59152"/>
            <a:ext cx="310896" cy="310896"/>
          </a:xfrm>
          <a:prstGeom prst="rect">
            <a:avLst/>
          </a:prstGeom>
        </p:spPr>
      </p:pic>
      <p:sp>
        <p:nvSpPr>
          <p:cNvPr id="9" name="Book Head 2"/>
          <p:cNvSpPr txBox="1"/>
          <p:nvPr/>
        </p:nvSpPr>
        <p:spPr>
          <a:xfrm>
            <a:off x="1417320" y="2176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일정 확정</a:t>
            </a:r>
            <a:endParaRPr lang="en-US" sz="1600" dirty="0"/>
          </a:p>
        </p:txBody>
      </p:sp>
      <p:sp>
        <p:nvSpPr>
          <p:cNvPr id="10" name="Book Body 2"/>
          <p:cNvSpPr txBox="1"/>
          <p:nvPr/>
        </p:nvSpPr>
        <p:spPr>
          <a:xfrm>
            <a:off x="1417320" y="2505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담당자가 영업일 2일 안에 회신해 미팅 날짜를 정합니다</a:t>
            </a:r>
            <a:endParaRPr lang="en-US" sz="1200" dirty="0"/>
          </a:p>
        </p:txBody>
      </p:sp>
      <p:sp>
        <p:nvSpPr>
          <p:cNvPr id="11" name="Book Icon Bg 3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Book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27832"/>
            <a:ext cx="310896" cy="310896"/>
          </a:xfrm>
          <a:prstGeom prst="rect">
            <a:avLst/>
          </a:prstGeom>
        </p:spPr>
      </p:pic>
      <p:sp>
        <p:nvSpPr>
          <p:cNvPr id="13" name="Book Head 3"/>
          <p:cNvSpPr txBox="1"/>
          <p:nvPr/>
        </p:nvSpPr>
        <p:spPr>
          <a:xfrm>
            <a:off x="1417320" y="3044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미팅 진행</a:t>
            </a:r>
            <a:endParaRPr lang="en-US" sz="1600" dirty="0"/>
          </a:p>
        </p:txBody>
      </p:sp>
      <p:sp>
        <p:nvSpPr>
          <p:cNvPr id="14" name="Book Body 3"/>
          <p:cNvSpPr txBox="1"/>
          <p:nvPr/>
        </p:nvSpPr>
        <p:spPr>
          <a:xfrm>
            <a:off x="1417320" y="33741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온라인 또는 스튜디오 방문, 약 1시간 동안 진행합니다</a:t>
            </a:r>
            <a:endParaRPr lang="en-US" sz="1200" dirty="0"/>
          </a:p>
        </p:txBody>
      </p:sp>
      <p:sp>
        <p:nvSpPr>
          <p:cNvPr id="15" name="Hours Box"/>
          <p:cNvSpPr/>
          <p:nvPr/>
        </p:nvSpPr>
        <p:spPr>
          <a:xfrm>
            <a:off x="5669280" y="1325880"/>
            <a:ext cx="2926080" cy="3108960"/>
          </a:xfrm>
          <a:prstGeom prst="roundRect">
            <a:avLst>
              <a:gd name="adj" fmla="val 4688"/>
            </a:avLst>
          </a:prstGeom>
          <a:solidFill>
            <a:srgbClr val="1F2937"/>
          </a:solidFill>
          <a:ln/>
        </p:spPr>
      </p:sp>
      <p:sp>
        <p:nvSpPr>
          <p:cNvPr id="16" name="Hours Head"/>
          <p:cNvSpPr txBox="1"/>
          <p:nvPr/>
        </p:nvSpPr>
        <p:spPr>
          <a:xfrm>
            <a:off x="59436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상담 가능 시간</a:t>
            </a:r>
            <a:endParaRPr lang="en-US" sz="1400" dirty="0"/>
          </a:p>
        </p:txBody>
      </p:sp>
      <p:sp>
        <p:nvSpPr>
          <p:cNvPr id="17" name="Hours"/>
          <p:cNvSpPr txBox="1"/>
          <p:nvPr/>
        </p:nvSpPr>
        <p:spPr>
          <a:xfrm>
            <a:off x="594360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평일 10:00 – 19:00</a:t>
            </a:r>
            <a:endParaRPr lang="en-US" sz="2000" dirty="0"/>
          </a:p>
        </p:txBody>
      </p:sp>
      <p:sp>
        <p:nvSpPr>
          <p:cNvPr id="18" name="Hours Sub"/>
          <p:cNvSpPr txBox="1"/>
          <p:nvPr/>
        </p:nvSpPr>
        <p:spPr>
          <a:xfrm>
            <a:off x="594360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주말·공휴일 휴무</a:t>
            </a:r>
            <a:endParaRPr lang="en-US" sz="1200" dirty="0"/>
          </a:p>
        </p:txBody>
      </p:sp>
      <p:sp>
        <p:nvSpPr>
          <p:cNvPr id="19" name="Welcome"/>
          <p:cNvSpPr txBox="1"/>
          <p:nvPr/>
        </p:nvSpPr>
        <p:spPr>
          <a:xfrm>
            <a:off x="594360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프로젝트 문의와 협업 제안을 환영합니다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VIBE">
  <a:themeElements>
    <a:clrScheme name="STUDIOVIBE">
      <a:dk1>
        <a:srgbClr val="1F2937"/>
      </a:dk1>
      <a:lt1>
        <a:srgbClr val="FFFFFF"/>
      </a:lt1>
      <a:dk2>
        <a:srgbClr val="111827"/>
      </a:dk2>
      <a:lt2>
        <a:srgbClr val="F9FAFB"/>
      </a:lt2>
      <a:accent1>
        <a:srgbClr val="FF6B35"/>
      </a:accent1>
      <a:accent2>
        <a:srgbClr val="FFA500"/>
      </a:accent2>
      <a:accent3>
        <a:srgbClr val="FF3D3D"/>
      </a:accent3>
      <a:accent4>
        <a:srgbClr val="6B7280"/>
      </a:accent4>
      <a:accent5>
        <a:srgbClr val="E5E7EB"/>
      </a:accent5>
      <a:accent6>
        <a:srgbClr val="374151"/>
      </a:accent6>
      <a:hlink>
        <a:srgbClr val="FF6B35"/>
      </a:hlink>
      <a:folHlink>
        <a:srgbClr val="FFA500"/>
      </a:folHlink>
    </a:clrScheme>
    <a:fontScheme name="STUDIOVIB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STUDIOVIBE 소개</dc:title>
  <dc:subject>PptxGenJS Presentation</dc:subject>
  <dc:creator>PptxGenJS</dc:creator>
  <cp:lastModifiedBy>PptxGenJS</cp:lastModifiedBy>
  <cp:revision>1</cp:revision>
  <dcterms:created xsi:type="dcterms:W3CDTF">2026-10-23T16:08:02Z</dcterms:created>
  <dcterms:modified xsi:type="dcterms:W3CDTF">2026-10-23T16:08:02Z</dcterms:modified>
</cp:coreProperties>
</file>